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027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49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729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116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037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335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2946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404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836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56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437203-F956-4415-A1E2-2965CCF658A1}" type="datetimeFigureOut">
              <a:rPr lang="tr-TR" smtClean="0"/>
              <a:t>14.01.2021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36B0E12-35F4-4805-B2AB-8BBECF775C4F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15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2624969" y="407769"/>
            <a:ext cx="68598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ALBAFETO ITALIANO</a:t>
            </a:r>
            <a:endParaRPr lang="tr-T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6849626" y="3195850"/>
            <a:ext cx="3507475" cy="18697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4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5 </a:t>
            </a:r>
            <a:r>
              <a:rPr lang="tr-TR" sz="40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Vocali</a:t>
            </a:r>
            <a:r>
              <a:rPr lang="tr-TR" sz="4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 (</a:t>
            </a:r>
            <a:r>
              <a:rPr lang="tr-TR" sz="40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a,e,i,o,u</a:t>
            </a:r>
            <a:r>
              <a:rPr lang="tr-TR" sz="4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) </a:t>
            </a:r>
            <a:r>
              <a:rPr lang="tr-TR" sz="4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 </a:t>
            </a:r>
            <a:endParaRPr lang="tr-TR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+mj-lt"/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1928933" y="3211772"/>
            <a:ext cx="3507475" cy="18697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4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16  </a:t>
            </a:r>
            <a:r>
              <a:rPr lang="tr-TR" sz="40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Consonanti</a:t>
            </a:r>
            <a:r>
              <a:rPr lang="tr-TR" sz="4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 </a:t>
            </a:r>
            <a:endParaRPr lang="tr-TR" sz="4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+mj-lt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4766232" y="1599810"/>
            <a:ext cx="2577317" cy="13114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5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5</a:t>
            </a:r>
            <a:r>
              <a:rPr lang="tr-TR" sz="4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  </a:t>
            </a:r>
            <a:r>
              <a:rPr lang="tr-TR" sz="25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Consonanti</a:t>
            </a:r>
            <a:r>
              <a:rPr lang="tr-TR" sz="25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 </a:t>
            </a:r>
            <a:r>
              <a:rPr lang="tr-TR" sz="25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Stranieri</a:t>
            </a:r>
            <a:r>
              <a:rPr lang="tr-TR" sz="25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 (</a:t>
            </a:r>
            <a:r>
              <a:rPr lang="tr-TR" sz="2500" b="1" spc="50" dirty="0" err="1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j,k,w,x,y</a:t>
            </a:r>
            <a:r>
              <a:rPr lang="tr-TR" sz="25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</a:rPr>
              <a:t>)</a:t>
            </a:r>
            <a:endParaRPr lang="tr-TR" sz="25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971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53" y="0"/>
            <a:ext cx="12196653" cy="63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3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90849" y="380325"/>
            <a:ext cx="68598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Telaffuz kuralları</a:t>
            </a:r>
            <a:endParaRPr lang="tr-T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4339989" y="3348167"/>
            <a:ext cx="726753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err="1" smtClean="0"/>
              <a:t>Amore</a:t>
            </a:r>
            <a:r>
              <a:rPr lang="tr-TR" sz="3500" dirty="0" smtClean="0"/>
              <a:t> / </a:t>
            </a:r>
            <a:r>
              <a:rPr lang="tr-TR" sz="3500" dirty="0" err="1" smtClean="0"/>
              <a:t>Portare</a:t>
            </a:r>
            <a:r>
              <a:rPr lang="tr-TR" sz="3500" dirty="0" smtClean="0"/>
              <a:t> / Bere / Dire /Basso </a:t>
            </a:r>
            <a:endParaRPr lang="tr-TR" sz="3500" dirty="0"/>
          </a:p>
        </p:txBody>
      </p:sp>
      <p:sp>
        <p:nvSpPr>
          <p:cNvPr id="5" name="Sağ Ok 4"/>
          <p:cNvSpPr/>
          <p:nvPr/>
        </p:nvSpPr>
        <p:spPr>
          <a:xfrm>
            <a:off x="504968" y="1733265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1433064" y="1640007"/>
            <a:ext cx="667375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smtClean="0"/>
              <a:t>Bazı harf ve harf grupları dışında Türkçe ile benzer şekilde telaffuza sahiptir</a:t>
            </a:r>
            <a:endParaRPr lang="tr-TR" sz="3500" dirty="0"/>
          </a:p>
        </p:txBody>
      </p:sp>
      <p:sp>
        <p:nvSpPr>
          <p:cNvPr id="8" name="5-Nokta Yıldız 7"/>
          <p:cNvSpPr/>
          <p:nvPr/>
        </p:nvSpPr>
        <p:spPr>
          <a:xfrm>
            <a:off x="3930556" y="3493450"/>
            <a:ext cx="409433" cy="38213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382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90849" y="380325"/>
            <a:ext cx="68598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 </a:t>
            </a:r>
            <a:endParaRPr lang="tr-TR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ağ Ok 2"/>
          <p:cNvSpPr/>
          <p:nvPr/>
        </p:nvSpPr>
        <p:spPr>
          <a:xfrm>
            <a:off x="928049" y="1419366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1528550" y="1516778"/>
            <a:ext cx="667375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smtClean="0"/>
              <a:t>C  &gt;&gt;&gt;&gt; a / o / u = KA / KO / KU</a:t>
            </a:r>
            <a:endParaRPr lang="tr-TR" sz="3500" dirty="0"/>
          </a:p>
        </p:txBody>
      </p:sp>
      <p:sp>
        <p:nvSpPr>
          <p:cNvPr id="5" name="5-Nokta Yıldız 4"/>
          <p:cNvSpPr/>
          <p:nvPr/>
        </p:nvSpPr>
        <p:spPr>
          <a:xfrm>
            <a:off x="3657601" y="2433318"/>
            <a:ext cx="409433" cy="38213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4067034" y="2327275"/>
            <a:ext cx="79089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smtClean="0">
                <a:solidFill>
                  <a:srgbClr val="00B050"/>
                </a:solidFill>
              </a:rPr>
              <a:t>Ca</a:t>
            </a:r>
            <a:r>
              <a:rPr lang="tr-TR" sz="3500" smtClean="0"/>
              <a:t>mera </a:t>
            </a:r>
            <a:r>
              <a:rPr lang="tr-TR" sz="3500" dirty="0" smtClean="0"/>
              <a:t>(</a:t>
            </a:r>
            <a:r>
              <a:rPr lang="tr-TR" sz="3500" dirty="0" smtClean="0">
                <a:solidFill>
                  <a:srgbClr val="FF0000"/>
                </a:solidFill>
              </a:rPr>
              <a:t>Ka</a:t>
            </a:r>
            <a:r>
              <a:rPr lang="tr-TR" sz="3500" dirty="0" smtClean="0"/>
              <a:t>mera) </a:t>
            </a:r>
            <a:r>
              <a:rPr lang="tr-TR" sz="3500" dirty="0" err="1" smtClean="0">
                <a:solidFill>
                  <a:srgbClr val="00B050"/>
                </a:solidFill>
              </a:rPr>
              <a:t>Co</a:t>
            </a:r>
            <a:r>
              <a:rPr lang="tr-TR" sz="3500" dirty="0" err="1" smtClean="0"/>
              <a:t>mprare</a:t>
            </a:r>
            <a:r>
              <a:rPr lang="tr-TR" sz="3500" dirty="0" smtClean="0"/>
              <a:t> (</a:t>
            </a:r>
            <a:r>
              <a:rPr lang="tr-TR" sz="3500" dirty="0" err="1" smtClean="0">
                <a:solidFill>
                  <a:srgbClr val="FF0000"/>
                </a:solidFill>
              </a:rPr>
              <a:t>Ko</a:t>
            </a:r>
            <a:r>
              <a:rPr lang="tr-TR" sz="3500" dirty="0" err="1" smtClean="0"/>
              <a:t>mprare</a:t>
            </a:r>
            <a:r>
              <a:rPr lang="tr-TR" sz="3500" dirty="0" smtClean="0"/>
              <a:t>)</a:t>
            </a:r>
            <a:endParaRPr lang="tr-TR" sz="3500" dirty="0"/>
          </a:p>
        </p:txBody>
      </p:sp>
      <p:sp>
        <p:nvSpPr>
          <p:cNvPr id="7" name="Metin kutusu 6"/>
          <p:cNvSpPr txBox="1"/>
          <p:nvPr/>
        </p:nvSpPr>
        <p:spPr>
          <a:xfrm>
            <a:off x="1624084" y="3551389"/>
            <a:ext cx="667375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smtClean="0"/>
              <a:t>C  &gt;&gt;&gt;&gt; e /i = Çe / </a:t>
            </a:r>
            <a:r>
              <a:rPr lang="tr-TR" sz="3500" dirty="0" err="1" smtClean="0"/>
              <a:t>Çi</a:t>
            </a:r>
            <a:endParaRPr lang="tr-TR" sz="3500" dirty="0"/>
          </a:p>
        </p:txBody>
      </p:sp>
      <p:sp>
        <p:nvSpPr>
          <p:cNvPr id="8" name="5-Nokta Yıldız 7"/>
          <p:cNvSpPr/>
          <p:nvPr/>
        </p:nvSpPr>
        <p:spPr>
          <a:xfrm>
            <a:off x="3657601" y="4763233"/>
            <a:ext cx="409433" cy="38213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Metin kutusu 8"/>
          <p:cNvSpPr txBox="1"/>
          <p:nvPr/>
        </p:nvSpPr>
        <p:spPr>
          <a:xfrm>
            <a:off x="4247817" y="4638830"/>
            <a:ext cx="79089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err="1" smtClean="0">
                <a:solidFill>
                  <a:srgbClr val="00B050"/>
                </a:solidFill>
              </a:rPr>
              <a:t>Ce</a:t>
            </a:r>
            <a:r>
              <a:rPr lang="tr-TR" sz="3500" dirty="0" err="1" smtClean="0"/>
              <a:t>nto</a:t>
            </a:r>
            <a:r>
              <a:rPr lang="tr-TR" sz="3500" dirty="0" smtClean="0"/>
              <a:t> (</a:t>
            </a:r>
            <a:r>
              <a:rPr lang="tr-TR" sz="3500" dirty="0" err="1" smtClean="0">
                <a:solidFill>
                  <a:srgbClr val="FF0000"/>
                </a:solidFill>
              </a:rPr>
              <a:t>Çe</a:t>
            </a:r>
            <a:r>
              <a:rPr lang="tr-TR" sz="3500" dirty="0" err="1" smtClean="0"/>
              <a:t>nto</a:t>
            </a:r>
            <a:r>
              <a:rPr lang="tr-TR" sz="3500" dirty="0" smtClean="0"/>
              <a:t>) </a:t>
            </a:r>
            <a:r>
              <a:rPr lang="tr-TR" sz="3500" dirty="0" err="1" smtClean="0">
                <a:solidFill>
                  <a:srgbClr val="00B050"/>
                </a:solidFill>
              </a:rPr>
              <a:t>Ci</a:t>
            </a:r>
            <a:r>
              <a:rPr lang="tr-TR" sz="3500" dirty="0" err="1" smtClean="0"/>
              <a:t>nema</a:t>
            </a:r>
            <a:r>
              <a:rPr lang="tr-TR" sz="3500" dirty="0" smtClean="0"/>
              <a:t> (</a:t>
            </a:r>
            <a:r>
              <a:rPr lang="tr-TR" sz="3500" dirty="0" err="1" smtClean="0">
                <a:solidFill>
                  <a:srgbClr val="FF0000"/>
                </a:solidFill>
              </a:rPr>
              <a:t>Çi</a:t>
            </a:r>
            <a:r>
              <a:rPr lang="tr-TR" sz="3500" dirty="0" err="1" smtClean="0"/>
              <a:t>nema</a:t>
            </a:r>
            <a:r>
              <a:rPr lang="tr-TR" sz="3500" dirty="0" smtClean="0"/>
              <a:t>)</a:t>
            </a:r>
            <a:endParaRPr lang="tr-TR" sz="3500" dirty="0"/>
          </a:p>
        </p:txBody>
      </p:sp>
      <p:sp>
        <p:nvSpPr>
          <p:cNvPr id="10" name="Sağ Ok 9"/>
          <p:cNvSpPr/>
          <p:nvPr/>
        </p:nvSpPr>
        <p:spPr>
          <a:xfrm>
            <a:off x="1023583" y="3467387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62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ğ Ok 1"/>
          <p:cNvSpPr/>
          <p:nvPr/>
        </p:nvSpPr>
        <p:spPr>
          <a:xfrm>
            <a:off x="928049" y="1419366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/>
          <p:cNvSpPr txBox="1"/>
          <p:nvPr/>
        </p:nvSpPr>
        <p:spPr>
          <a:xfrm>
            <a:off x="1774210" y="1547447"/>
            <a:ext cx="667375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smtClean="0"/>
              <a:t>C  &gt;&gt;&gt;&gt; </a:t>
            </a:r>
            <a:r>
              <a:rPr lang="tr-TR" sz="3500" dirty="0" smtClean="0"/>
              <a:t>h </a:t>
            </a:r>
            <a:r>
              <a:rPr lang="tr-TR" sz="3500" dirty="0" smtClean="0"/>
              <a:t>= </a:t>
            </a:r>
            <a:r>
              <a:rPr lang="tr-TR" sz="3500" dirty="0" smtClean="0"/>
              <a:t>K</a:t>
            </a:r>
            <a:endParaRPr lang="tr-TR" sz="3500" dirty="0"/>
          </a:p>
        </p:txBody>
      </p:sp>
      <p:sp>
        <p:nvSpPr>
          <p:cNvPr id="4" name="Metin kutusu 3"/>
          <p:cNvSpPr txBox="1"/>
          <p:nvPr/>
        </p:nvSpPr>
        <p:spPr>
          <a:xfrm>
            <a:off x="4258103" y="2630871"/>
            <a:ext cx="726753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500" dirty="0" err="1" smtClean="0"/>
              <a:t>Tur</a:t>
            </a:r>
            <a:r>
              <a:rPr lang="tr-TR" sz="3500" dirty="0" err="1" smtClean="0">
                <a:solidFill>
                  <a:srgbClr val="00B050"/>
                </a:solidFill>
              </a:rPr>
              <a:t>ch</a:t>
            </a:r>
            <a:r>
              <a:rPr lang="tr-TR" sz="3500" dirty="0" err="1" smtClean="0"/>
              <a:t>ia</a:t>
            </a:r>
            <a:r>
              <a:rPr lang="tr-TR" sz="3500" dirty="0" smtClean="0"/>
              <a:t> (</a:t>
            </a:r>
            <a:r>
              <a:rPr lang="tr-TR" sz="3500" dirty="0" err="1" smtClean="0"/>
              <a:t>Tur</a:t>
            </a:r>
            <a:r>
              <a:rPr lang="tr-TR" sz="3500" dirty="0" err="1" smtClean="0">
                <a:solidFill>
                  <a:srgbClr val="FF0000"/>
                </a:solidFill>
              </a:rPr>
              <a:t>k</a:t>
            </a:r>
            <a:r>
              <a:rPr lang="tr-TR" sz="3500" dirty="0" err="1" smtClean="0"/>
              <a:t>ia</a:t>
            </a:r>
            <a:r>
              <a:rPr lang="tr-TR" sz="3500" dirty="0" smtClean="0"/>
              <a:t>)</a:t>
            </a:r>
            <a:endParaRPr lang="tr-TR" sz="3500" dirty="0"/>
          </a:p>
        </p:txBody>
      </p:sp>
      <p:sp>
        <p:nvSpPr>
          <p:cNvPr id="5" name="5-Nokta Yıldız 4"/>
          <p:cNvSpPr/>
          <p:nvPr/>
        </p:nvSpPr>
        <p:spPr>
          <a:xfrm>
            <a:off x="3739487" y="2714331"/>
            <a:ext cx="409433" cy="38213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199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249655" y="505032"/>
            <a:ext cx="68598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  <a:r>
              <a:rPr lang="tr-TR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tr-TR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1692324" y="1798130"/>
            <a:ext cx="9485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/>
              <a:t>“e” ve “i” harflerinden önce gelirse “</a:t>
            </a:r>
            <a:r>
              <a:rPr lang="tr-TR" sz="3600" b="1" dirty="0"/>
              <a:t>C</a:t>
            </a:r>
            <a:r>
              <a:rPr lang="tr-TR" sz="3600" dirty="0"/>
              <a:t>” olarak okunur</a:t>
            </a:r>
            <a:r>
              <a:rPr lang="tr-TR" sz="3600" dirty="0" smtClean="0"/>
              <a:t>! </a:t>
            </a:r>
            <a:r>
              <a:rPr lang="tr-TR" sz="3600" dirty="0" err="1" smtClean="0">
                <a:solidFill>
                  <a:srgbClr val="00B050"/>
                </a:solidFill>
              </a:rPr>
              <a:t>Ge</a:t>
            </a:r>
            <a:r>
              <a:rPr lang="tr-TR" sz="3600" dirty="0" err="1" smtClean="0"/>
              <a:t>lato</a:t>
            </a:r>
            <a:r>
              <a:rPr lang="tr-TR" sz="3600" dirty="0" smtClean="0"/>
              <a:t>(</a:t>
            </a:r>
            <a:r>
              <a:rPr lang="tr-TR" sz="3600" dirty="0" err="1" smtClean="0">
                <a:solidFill>
                  <a:srgbClr val="FF0000"/>
                </a:solidFill>
              </a:rPr>
              <a:t>Ce</a:t>
            </a:r>
            <a:r>
              <a:rPr lang="tr-TR" sz="3600" dirty="0" err="1" smtClean="0"/>
              <a:t>lato</a:t>
            </a:r>
            <a:r>
              <a:rPr lang="tr-TR" sz="3600" dirty="0" smtClean="0"/>
              <a:t>) </a:t>
            </a:r>
            <a:r>
              <a:rPr lang="tr-TR" sz="3600" dirty="0" err="1" smtClean="0">
                <a:solidFill>
                  <a:srgbClr val="00B050"/>
                </a:solidFill>
              </a:rPr>
              <a:t>Gi</a:t>
            </a:r>
            <a:r>
              <a:rPr lang="tr-TR" sz="3600" dirty="0" err="1" smtClean="0"/>
              <a:t>ardino</a:t>
            </a:r>
            <a:r>
              <a:rPr lang="tr-TR" sz="3600" dirty="0" smtClean="0"/>
              <a:t> (</a:t>
            </a:r>
            <a:r>
              <a:rPr lang="tr-TR" sz="3600" dirty="0" err="1" smtClean="0">
                <a:solidFill>
                  <a:srgbClr val="FF0000"/>
                </a:solidFill>
              </a:rPr>
              <a:t>Ca</a:t>
            </a:r>
            <a:r>
              <a:rPr lang="tr-TR" sz="3600" dirty="0" err="1" smtClean="0"/>
              <a:t>rdino</a:t>
            </a:r>
            <a:r>
              <a:rPr lang="tr-TR" sz="3600" dirty="0"/>
              <a:t>)</a:t>
            </a:r>
            <a:endParaRPr lang="tr-TR" sz="3600" dirty="0"/>
          </a:p>
        </p:txBody>
      </p:sp>
      <p:sp>
        <p:nvSpPr>
          <p:cNvPr id="6" name="Sağ Ok 5"/>
          <p:cNvSpPr/>
          <p:nvPr/>
        </p:nvSpPr>
        <p:spPr>
          <a:xfrm>
            <a:off x="955345" y="1798130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Sağ Ok 6"/>
          <p:cNvSpPr/>
          <p:nvPr/>
        </p:nvSpPr>
        <p:spPr>
          <a:xfrm>
            <a:off x="955344" y="3274363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/>
          <p:cNvSpPr txBox="1"/>
          <p:nvPr/>
        </p:nvSpPr>
        <p:spPr>
          <a:xfrm>
            <a:off x="1692324" y="3117750"/>
            <a:ext cx="9485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 smtClean="0"/>
              <a:t>GLI = LY</a:t>
            </a:r>
          </a:p>
          <a:p>
            <a:r>
              <a:rPr lang="tr-TR" sz="3600" dirty="0" err="1" smtClean="0"/>
              <a:t>Ma</a:t>
            </a:r>
            <a:r>
              <a:rPr lang="tr-TR" sz="3600" dirty="0" err="1" smtClean="0">
                <a:solidFill>
                  <a:srgbClr val="00B050"/>
                </a:solidFill>
              </a:rPr>
              <a:t>gli</a:t>
            </a:r>
            <a:r>
              <a:rPr lang="tr-TR" sz="3600" dirty="0" err="1" smtClean="0"/>
              <a:t>one</a:t>
            </a:r>
            <a:r>
              <a:rPr lang="tr-TR" sz="3600" dirty="0" smtClean="0"/>
              <a:t> (</a:t>
            </a:r>
            <a:r>
              <a:rPr lang="tr-TR" sz="3600" dirty="0" err="1" smtClean="0"/>
              <a:t>Ma</a:t>
            </a:r>
            <a:r>
              <a:rPr lang="tr-TR" sz="3600" dirty="0" err="1" smtClean="0">
                <a:solidFill>
                  <a:srgbClr val="FF0000"/>
                </a:solidFill>
              </a:rPr>
              <a:t>ly</a:t>
            </a:r>
            <a:r>
              <a:rPr lang="tr-TR" sz="3600" dirty="0" err="1" smtClean="0"/>
              <a:t>one</a:t>
            </a:r>
            <a:r>
              <a:rPr lang="tr-TR" sz="3600" dirty="0" smtClean="0"/>
              <a:t>) </a:t>
            </a:r>
            <a:r>
              <a:rPr lang="tr-TR" sz="3600" dirty="0" err="1" smtClean="0"/>
              <a:t>Fo</a:t>
            </a:r>
            <a:r>
              <a:rPr lang="tr-TR" sz="3600" dirty="0" err="1" smtClean="0">
                <a:solidFill>
                  <a:srgbClr val="00B050"/>
                </a:solidFill>
              </a:rPr>
              <a:t>gli</a:t>
            </a:r>
            <a:r>
              <a:rPr lang="tr-TR" sz="3600" dirty="0" err="1" smtClean="0"/>
              <a:t>a</a:t>
            </a:r>
            <a:r>
              <a:rPr lang="tr-TR" sz="3600" dirty="0" smtClean="0"/>
              <a:t> (</a:t>
            </a:r>
            <a:r>
              <a:rPr lang="tr-TR" sz="3600" dirty="0" err="1" smtClean="0"/>
              <a:t>Fo</a:t>
            </a:r>
            <a:r>
              <a:rPr lang="tr-TR" sz="3600" dirty="0" err="1" smtClean="0">
                <a:solidFill>
                  <a:srgbClr val="FF0000"/>
                </a:solidFill>
              </a:rPr>
              <a:t>ly</a:t>
            </a:r>
            <a:r>
              <a:rPr lang="tr-TR" sz="3600" dirty="0" err="1" smtClean="0"/>
              <a:t>a</a:t>
            </a:r>
            <a:r>
              <a:rPr lang="tr-TR" sz="3600" dirty="0" smtClean="0"/>
              <a:t>)</a:t>
            </a:r>
            <a:endParaRPr lang="tr-TR" sz="3600" dirty="0"/>
          </a:p>
        </p:txBody>
      </p:sp>
      <p:sp>
        <p:nvSpPr>
          <p:cNvPr id="9" name="Sağ Ok 8"/>
          <p:cNvSpPr/>
          <p:nvPr/>
        </p:nvSpPr>
        <p:spPr>
          <a:xfrm>
            <a:off x="955343" y="4750596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/>
          <p:cNvSpPr txBox="1"/>
          <p:nvPr/>
        </p:nvSpPr>
        <p:spPr>
          <a:xfrm>
            <a:off x="1692324" y="4647563"/>
            <a:ext cx="9485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 smtClean="0"/>
              <a:t>GN = </a:t>
            </a:r>
            <a:r>
              <a:rPr lang="tr-TR" sz="3600" dirty="0"/>
              <a:t>N</a:t>
            </a:r>
            <a:r>
              <a:rPr lang="tr-TR" sz="3600" dirty="0" smtClean="0"/>
              <a:t>Y</a:t>
            </a:r>
          </a:p>
          <a:p>
            <a:r>
              <a:rPr lang="tr-TR" sz="3600" dirty="0" err="1" smtClean="0"/>
              <a:t>So</a:t>
            </a:r>
            <a:r>
              <a:rPr lang="tr-TR" sz="3600" dirty="0" err="1" smtClean="0">
                <a:solidFill>
                  <a:srgbClr val="00B050"/>
                </a:solidFill>
              </a:rPr>
              <a:t>gn</a:t>
            </a:r>
            <a:r>
              <a:rPr lang="tr-TR" sz="3600" dirty="0" err="1" smtClean="0"/>
              <a:t>o</a:t>
            </a:r>
            <a:r>
              <a:rPr lang="tr-TR" sz="3600" dirty="0" smtClean="0"/>
              <a:t>(</a:t>
            </a:r>
            <a:r>
              <a:rPr lang="tr-TR" sz="3600" dirty="0" err="1" smtClean="0"/>
              <a:t>Sonyo</a:t>
            </a:r>
            <a:r>
              <a:rPr lang="tr-TR" sz="3600" dirty="0" smtClean="0"/>
              <a:t>) </a:t>
            </a:r>
            <a:r>
              <a:rPr lang="tr-TR" sz="3600" dirty="0" err="1" smtClean="0"/>
              <a:t>Dise</a:t>
            </a:r>
            <a:r>
              <a:rPr lang="tr-TR" sz="3600" dirty="0" err="1" smtClean="0">
                <a:solidFill>
                  <a:srgbClr val="00B050"/>
                </a:solidFill>
              </a:rPr>
              <a:t>gn</a:t>
            </a:r>
            <a:r>
              <a:rPr lang="tr-TR" sz="3600" dirty="0" err="1" smtClean="0"/>
              <a:t>o</a:t>
            </a:r>
            <a:r>
              <a:rPr lang="tr-TR" sz="3600" dirty="0" smtClean="0"/>
              <a:t> (</a:t>
            </a:r>
            <a:r>
              <a:rPr lang="tr-TR" sz="3600" dirty="0" err="1" smtClean="0"/>
              <a:t>Dizenyo</a:t>
            </a:r>
            <a:r>
              <a:rPr lang="tr-TR" sz="3600" dirty="0" smtClean="0"/>
              <a:t>)</a:t>
            </a:r>
            <a:endParaRPr lang="tr-TR" sz="3600" dirty="0"/>
          </a:p>
        </p:txBody>
      </p:sp>
      <p:sp>
        <p:nvSpPr>
          <p:cNvPr id="11" name="Katlanmış Nesne 10"/>
          <p:cNvSpPr/>
          <p:nvPr/>
        </p:nvSpPr>
        <p:spPr>
          <a:xfrm>
            <a:off x="8727362" y="3327943"/>
            <a:ext cx="2886882" cy="2374569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2900" dirty="0" smtClean="0"/>
          </a:p>
          <a:p>
            <a:pPr algn="ctr"/>
            <a:endParaRPr lang="tr-TR" sz="2900" dirty="0" smtClean="0">
              <a:solidFill>
                <a:schemeClr val="tx1"/>
              </a:solidFill>
            </a:endParaRPr>
          </a:p>
          <a:p>
            <a:pPr algn="ctr"/>
            <a:r>
              <a:rPr lang="tr-TR" sz="2900" dirty="0" err="1" smtClean="0">
                <a:solidFill>
                  <a:schemeClr val="tx1"/>
                </a:solidFill>
              </a:rPr>
              <a:t>Gatto</a:t>
            </a:r>
            <a:endParaRPr lang="tr-TR" sz="2900" dirty="0" smtClean="0">
              <a:solidFill>
                <a:schemeClr val="tx1"/>
              </a:solidFill>
            </a:endParaRPr>
          </a:p>
          <a:p>
            <a:pPr algn="ctr"/>
            <a:r>
              <a:rPr lang="tr-TR" sz="2900" dirty="0" err="1" smtClean="0">
                <a:solidFill>
                  <a:schemeClr val="tx1"/>
                </a:solidFill>
              </a:rPr>
              <a:t>Goccia</a:t>
            </a:r>
            <a:endParaRPr lang="tr-TR" sz="2900" dirty="0" smtClean="0">
              <a:solidFill>
                <a:schemeClr val="tx1"/>
              </a:solidFill>
            </a:endParaRPr>
          </a:p>
          <a:p>
            <a:pPr algn="ctr"/>
            <a:r>
              <a:rPr lang="tr-TR" sz="2900" dirty="0" err="1" smtClean="0">
                <a:solidFill>
                  <a:schemeClr val="tx1"/>
                </a:solidFill>
              </a:rPr>
              <a:t>Ghiaccio</a:t>
            </a:r>
            <a:endParaRPr lang="tr-TR" sz="2900" dirty="0" smtClean="0">
              <a:solidFill>
                <a:schemeClr val="tx1"/>
              </a:solidFill>
            </a:endParaRPr>
          </a:p>
          <a:p>
            <a:pPr algn="ctr"/>
            <a:endParaRPr lang="tr-TR" sz="2900" dirty="0"/>
          </a:p>
        </p:txBody>
      </p:sp>
    </p:spTree>
    <p:extLst>
      <p:ext uri="{BB962C8B-B14F-4D97-AF65-F5344CB8AC3E}">
        <p14:creationId xmlns:p14="http://schemas.microsoft.com/office/powerpoint/2010/main" val="4445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5533364" y="623964"/>
            <a:ext cx="61587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  <a:endParaRPr lang="tr-TR" sz="5400" dirty="0"/>
          </a:p>
        </p:txBody>
      </p:sp>
      <p:sp>
        <p:nvSpPr>
          <p:cNvPr id="5" name="Dikdörtgen 4"/>
          <p:cNvSpPr/>
          <p:nvPr/>
        </p:nvSpPr>
        <p:spPr>
          <a:xfrm>
            <a:off x="2147248" y="2085069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/>
              <a:t>K</a:t>
            </a:r>
            <a:r>
              <a:rPr lang="tr-TR" sz="3600" dirty="0" smtClean="0"/>
              <a:t>imi </a:t>
            </a:r>
            <a:r>
              <a:rPr lang="tr-TR" sz="3600" dirty="0"/>
              <a:t>harflerin ses değiştirmemesi için </a:t>
            </a:r>
            <a:r>
              <a:rPr lang="tr-TR" sz="3600" dirty="0" smtClean="0"/>
              <a:t>kullanılır.</a:t>
            </a:r>
            <a:endParaRPr lang="tr-TR" sz="3600" dirty="0"/>
          </a:p>
        </p:txBody>
      </p:sp>
      <p:sp>
        <p:nvSpPr>
          <p:cNvPr id="6" name="Sağ Ok 5"/>
          <p:cNvSpPr/>
          <p:nvPr/>
        </p:nvSpPr>
        <p:spPr>
          <a:xfrm>
            <a:off x="1269244" y="2241681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/>
          <p:cNvSpPr/>
          <p:nvPr/>
        </p:nvSpPr>
        <p:spPr>
          <a:xfrm>
            <a:off x="4012443" y="3340200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 err="1" smtClean="0"/>
              <a:t>Giocare</a:t>
            </a:r>
            <a:r>
              <a:rPr lang="tr-TR" sz="3600" dirty="0" smtClean="0"/>
              <a:t> </a:t>
            </a:r>
          </a:p>
          <a:p>
            <a:r>
              <a:rPr lang="tr-TR" sz="3600" dirty="0" err="1" smtClean="0"/>
              <a:t>Gioco-Giochi-Gioca</a:t>
            </a:r>
            <a:endParaRPr lang="tr-TR" sz="3600" dirty="0"/>
          </a:p>
        </p:txBody>
      </p:sp>
      <p:sp>
        <p:nvSpPr>
          <p:cNvPr id="9" name="5-Nokta Yıldız 8"/>
          <p:cNvSpPr/>
          <p:nvPr/>
        </p:nvSpPr>
        <p:spPr>
          <a:xfrm>
            <a:off x="3603010" y="3441036"/>
            <a:ext cx="409433" cy="38213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5-Nokta Yıldız 9"/>
          <p:cNvSpPr/>
          <p:nvPr/>
        </p:nvSpPr>
        <p:spPr>
          <a:xfrm>
            <a:off x="8559422" y="3441035"/>
            <a:ext cx="409433" cy="38213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2" name="Dikdörtgen 11"/>
          <p:cNvSpPr/>
          <p:nvPr/>
        </p:nvSpPr>
        <p:spPr>
          <a:xfrm>
            <a:off x="9048006" y="3340200"/>
            <a:ext cx="326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 err="1" smtClean="0"/>
              <a:t>Ghiaccio</a:t>
            </a: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415276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5600628" y="765769"/>
            <a:ext cx="5020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3" name="Sağ Ok 2"/>
          <p:cNvSpPr/>
          <p:nvPr/>
        </p:nvSpPr>
        <p:spPr>
          <a:xfrm>
            <a:off x="1269244" y="2241681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Dikdörtgen 1"/>
          <p:cNvSpPr/>
          <p:nvPr/>
        </p:nvSpPr>
        <p:spPr>
          <a:xfrm>
            <a:off x="2051712" y="2231481"/>
            <a:ext cx="5386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dirty="0" smtClean="0"/>
              <a:t>*Seslilerden önce</a:t>
            </a:r>
            <a:br>
              <a:rPr lang="tr-TR" sz="3000" dirty="0" smtClean="0"/>
            </a:br>
            <a:r>
              <a:rPr lang="tr-TR" sz="3000" dirty="0" smtClean="0"/>
              <a:t>*“f, p, q, t” </a:t>
            </a:r>
          </a:p>
          <a:p>
            <a:r>
              <a:rPr lang="tr-TR" sz="3000" dirty="0" smtClean="0"/>
              <a:t>*c + “</a:t>
            </a:r>
            <a:r>
              <a:rPr lang="tr-TR" sz="3000" dirty="0" err="1" smtClean="0"/>
              <a:t>a,o,u</a:t>
            </a:r>
            <a:r>
              <a:rPr lang="tr-TR" sz="3000" dirty="0" smtClean="0"/>
              <a:t>” </a:t>
            </a:r>
          </a:p>
          <a:p>
            <a:r>
              <a:rPr lang="tr-TR" sz="3000" dirty="0" smtClean="0"/>
              <a:t>“S” olarak okunur.</a:t>
            </a:r>
            <a:endParaRPr lang="tr-TR" sz="3000" dirty="0"/>
          </a:p>
        </p:txBody>
      </p:sp>
      <p:sp>
        <p:nvSpPr>
          <p:cNvPr id="5" name="Dikdörtgen 4"/>
          <p:cNvSpPr/>
          <p:nvPr/>
        </p:nvSpPr>
        <p:spPr>
          <a:xfrm>
            <a:off x="5290780" y="2275872"/>
            <a:ext cx="5386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dirty="0" smtClean="0"/>
              <a:t>*Sole</a:t>
            </a:r>
            <a:br>
              <a:rPr lang="tr-TR" sz="3000" dirty="0" smtClean="0"/>
            </a:br>
            <a:r>
              <a:rPr lang="tr-TR" sz="3000" dirty="0" smtClean="0"/>
              <a:t>*</a:t>
            </a:r>
            <a:r>
              <a:rPr lang="tr-TR" sz="3000" dirty="0" err="1" smtClean="0"/>
              <a:t>Sforzo</a:t>
            </a:r>
            <a:endParaRPr lang="tr-TR" sz="3000" dirty="0" smtClean="0"/>
          </a:p>
          <a:p>
            <a:r>
              <a:rPr lang="tr-TR" sz="3000" dirty="0" smtClean="0"/>
              <a:t>*</a:t>
            </a:r>
            <a:r>
              <a:rPr lang="tr-TR" sz="3000" dirty="0" err="1" smtClean="0"/>
              <a:t>Scuola</a:t>
            </a:r>
            <a:endParaRPr lang="tr-TR" sz="3000" dirty="0" smtClean="0"/>
          </a:p>
        </p:txBody>
      </p:sp>
      <p:sp>
        <p:nvSpPr>
          <p:cNvPr id="6" name="Dikdörtgen 5"/>
          <p:cNvSpPr/>
          <p:nvPr/>
        </p:nvSpPr>
        <p:spPr>
          <a:xfrm>
            <a:off x="-286603" y="4566146"/>
            <a:ext cx="84343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5"/>
            <a:r>
              <a:rPr lang="tr-TR" sz="3000" dirty="0"/>
              <a:t>Öbür sessizlerden önce veya iki sesli arasında olursa, “Z” </a:t>
            </a:r>
            <a:r>
              <a:rPr lang="tr-TR" sz="3000" dirty="0" smtClean="0"/>
              <a:t>olur  </a:t>
            </a:r>
          </a:p>
          <a:p>
            <a:pPr lvl="5"/>
            <a:r>
              <a:rPr lang="tr-TR" sz="3000" dirty="0" smtClean="0"/>
              <a:t>* </a:t>
            </a:r>
            <a:r>
              <a:rPr lang="tr-TR" sz="3000" dirty="0" err="1" smtClean="0"/>
              <a:t>Smeraldo</a:t>
            </a:r>
            <a:r>
              <a:rPr lang="tr-TR" sz="3000" dirty="0" smtClean="0"/>
              <a:t>/ </a:t>
            </a:r>
            <a:r>
              <a:rPr lang="tr-TR" sz="3000" dirty="0" err="1" smtClean="0"/>
              <a:t>Naso</a:t>
            </a:r>
            <a:r>
              <a:rPr lang="tr-TR" sz="3000" dirty="0" smtClean="0"/>
              <a:t> / </a:t>
            </a:r>
            <a:r>
              <a:rPr lang="tr-TR" sz="3000" dirty="0" err="1" smtClean="0"/>
              <a:t>Sposa</a:t>
            </a:r>
            <a:endParaRPr lang="tr-TR" b="0" i="0" dirty="0">
              <a:solidFill>
                <a:srgbClr val="333333"/>
              </a:solidFill>
              <a:effectLst/>
              <a:latin typeface="Roboto"/>
            </a:endParaRPr>
          </a:p>
        </p:txBody>
      </p:sp>
      <p:sp>
        <p:nvSpPr>
          <p:cNvPr id="7" name="Sağ Ok 6"/>
          <p:cNvSpPr/>
          <p:nvPr/>
        </p:nvSpPr>
        <p:spPr>
          <a:xfrm>
            <a:off x="1269244" y="4566146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/>
          <p:cNvSpPr/>
          <p:nvPr/>
        </p:nvSpPr>
        <p:spPr>
          <a:xfrm>
            <a:off x="8654819" y="2231481"/>
            <a:ext cx="53863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dirty="0" err="1" smtClean="0"/>
              <a:t>Sc+ei</a:t>
            </a:r>
            <a:r>
              <a:rPr lang="tr-TR" sz="3000" dirty="0" smtClean="0"/>
              <a:t> = Şe /</a:t>
            </a:r>
            <a:r>
              <a:rPr lang="tr-TR" sz="3000" dirty="0" err="1" smtClean="0"/>
              <a:t>Şi</a:t>
            </a:r>
            <a:endParaRPr lang="tr-TR" sz="3000" dirty="0"/>
          </a:p>
        </p:txBody>
      </p:sp>
      <p:sp>
        <p:nvSpPr>
          <p:cNvPr id="10" name="Sağ Ok 9"/>
          <p:cNvSpPr/>
          <p:nvPr/>
        </p:nvSpPr>
        <p:spPr>
          <a:xfrm>
            <a:off x="7933893" y="2127432"/>
            <a:ext cx="600501" cy="887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 10"/>
          <p:cNvSpPr/>
          <p:nvPr/>
        </p:nvSpPr>
        <p:spPr>
          <a:xfrm>
            <a:off x="8654819" y="2851786"/>
            <a:ext cx="53863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dirty="0" err="1" smtClean="0"/>
              <a:t>Sciarpa</a:t>
            </a:r>
            <a:r>
              <a:rPr lang="tr-TR" sz="3000" dirty="0" smtClean="0"/>
              <a:t> / </a:t>
            </a:r>
            <a:r>
              <a:rPr lang="tr-TR" sz="3000" dirty="0" err="1" smtClean="0"/>
              <a:t>Scelta</a:t>
            </a:r>
            <a:endParaRPr lang="tr-TR" sz="3000" dirty="0"/>
          </a:p>
        </p:txBody>
      </p:sp>
    </p:spTree>
    <p:extLst>
      <p:ext uri="{BB962C8B-B14F-4D97-AF65-F5344CB8AC3E}">
        <p14:creationId xmlns:p14="http://schemas.microsoft.com/office/powerpoint/2010/main" val="277936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3865088" y="844602"/>
            <a:ext cx="5437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endParaRPr lang="tr-TR" sz="5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1958452" y="834786"/>
            <a:ext cx="40588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</a:p>
        </p:txBody>
      </p:sp>
      <p:sp>
        <p:nvSpPr>
          <p:cNvPr id="7" name="Dikdörtgen 6"/>
          <p:cNvSpPr/>
          <p:nvPr/>
        </p:nvSpPr>
        <p:spPr>
          <a:xfrm>
            <a:off x="1122133" y="2831067"/>
            <a:ext cx="207851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500" dirty="0" err="1">
                <a:solidFill>
                  <a:srgbClr val="00B050"/>
                </a:solidFill>
              </a:rPr>
              <a:t>J</a:t>
            </a:r>
            <a:r>
              <a:rPr lang="tr-TR" sz="3500" dirty="0" err="1"/>
              <a:t>ugoslavia</a:t>
            </a:r>
            <a:r>
              <a:rPr lang="tr-TR" dirty="0">
                <a:solidFill>
                  <a:srgbClr val="657580"/>
                </a:solidFill>
                <a:latin typeface="Roboto"/>
              </a:rPr>
              <a:t> </a:t>
            </a:r>
          </a:p>
          <a:p>
            <a:r>
              <a:rPr lang="tr-TR" sz="3500" dirty="0" err="1">
                <a:solidFill>
                  <a:srgbClr val="00B050"/>
                </a:solidFill>
              </a:rPr>
              <a:t>Y</a:t>
            </a:r>
            <a:r>
              <a:rPr lang="tr-TR" sz="3500" dirty="0" err="1"/>
              <a:t>ugoslavia</a:t>
            </a:r>
            <a:endParaRPr lang="tr-TR" sz="3500" dirty="0"/>
          </a:p>
        </p:txBody>
      </p:sp>
      <p:cxnSp>
        <p:nvCxnSpPr>
          <p:cNvPr id="9" name="Düz Ok Bağlayıcısı 8"/>
          <p:cNvCxnSpPr/>
          <p:nvPr/>
        </p:nvCxnSpPr>
        <p:spPr>
          <a:xfrm>
            <a:off x="2161392" y="2019869"/>
            <a:ext cx="0" cy="655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ikdörtgen 10"/>
          <p:cNvSpPr/>
          <p:nvPr/>
        </p:nvSpPr>
        <p:spPr>
          <a:xfrm>
            <a:off x="3633453" y="2831068"/>
            <a:ext cx="1007007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500" dirty="0" err="1">
                <a:solidFill>
                  <a:srgbClr val="00B050"/>
                </a:solidFill>
              </a:rPr>
              <a:t>K</a:t>
            </a:r>
            <a:r>
              <a:rPr lang="tr-TR" sz="3500" dirty="0" err="1"/>
              <a:t>iwi</a:t>
            </a:r>
            <a:r>
              <a:rPr lang="tr-TR" dirty="0">
                <a:solidFill>
                  <a:srgbClr val="657580"/>
                </a:solidFill>
                <a:latin typeface="Roboto"/>
              </a:rPr>
              <a:t> </a:t>
            </a:r>
            <a:endParaRPr lang="tr-TR" sz="3500" dirty="0"/>
          </a:p>
          <a:p>
            <a:r>
              <a:rPr lang="tr-TR" sz="3500" dirty="0" smtClean="0">
                <a:solidFill>
                  <a:srgbClr val="00B050"/>
                </a:solidFill>
              </a:rPr>
              <a:t>K</a:t>
            </a:r>
            <a:r>
              <a:rPr lang="tr-TR" sz="3500" dirty="0" smtClean="0"/>
              <a:t>ivi</a:t>
            </a:r>
            <a:endParaRPr lang="tr-TR" dirty="0"/>
          </a:p>
        </p:txBody>
      </p:sp>
      <p:cxnSp>
        <p:nvCxnSpPr>
          <p:cNvPr id="12" name="Düz Ok Bağlayıcısı 11"/>
          <p:cNvCxnSpPr/>
          <p:nvPr/>
        </p:nvCxnSpPr>
        <p:spPr>
          <a:xfrm>
            <a:off x="4089685" y="2019869"/>
            <a:ext cx="0" cy="655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ikdörtgen 12"/>
          <p:cNvSpPr/>
          <p:nvPr/>
        </p:nvSpPr>
        <p:spPr>
          <a:xfrm>
            <a:off x="5778049" y="874951"/>
            <a:ext cx="65114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endParaRPr lang="tr-TR" sz="5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5992958" y="2019869"/>
            <a:ext cx="0" cy="655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kdörtgen 14"/>
          <p:cNvSpPr/>
          <p:nvPr/>
        </p:nvSpPr>
        <p:spPr>
          <a:xfrm>
            <a:off x="5311479" y="2833341"/>
            <a:ext cx="15842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500" dirty="0" err="1" smtClean="0">
                <a:solidFill>
                  <a:srgbClr val="00B050"/>
                </a:solidFill>
              </a:rPr>
              <a:t>Q</a:t>
            </a:r>
            <a:r>
              <a:rPr lang="tr-TR" sz="3500" dirty="0" err="1" smtClean="0"/>
              <a:t>uadro</a:t>
            </a:r>
            <a:endParaRPr lang="tr-TR" sz="3500" dirty="0" smtClean="0"/>
          </a:p>
          <a:p>
            <a:r>
              <a:rPr lang="tr-TR" sz="3500" dirty="0" err="1" smtClean="0">
                <a:solidFill>
                  <a:srgbClr val="00B050"/>
                </a:solidFill>
              </a:rPr>
              <a:t>K</a:t>
            </a:r>
            <a:r>
              <a:rPr lang="tr-TR" sz="3500" dirty="0" err="1" smtClean="0"/>
              <a:t>uadro</a:t>
            </a:r>
            <a:r>
              <a:rPr lang="tr-TR" sz="3500" dirty="0">
                <a:solidFill>
                  <a:srgbClr val="00B050"/>
                </a:solidFill>
              </a:rPr>
              <a:t> </a:t>
            </a:r>
          </a:p>
        </p:txBody>
      </p:sp>
      <p:sp>
        <p:nvSpPr>
          <p:cNvPr id="18" name="Dikdörtgen 17"/>
          <p:cNvSpPr/>
          <p:nvPr/>
        </p:nvSpPr>
        <p:spPr>
          <a:xfrm>
            <a:off x="9970186" y="887818"/>
            <a:ext cx="5084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</a:t>
            </a:r>
            <a:endParaRPr lang="tr-TR" sz="5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9686519" y="2831066"/>
            <a:ext cx="15842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3500" dirty="0" smtClean="0"/>
              <a:t>Pi</a:t>
            </a:r>
            <a:r>
              <a:rPr lang="tr-TR" sz="3500" dirty="0" smtClean="0">
                <a:solidFill>
                  <a:srgbClr val="00B050"/>
                </a:solidFill>
              </a:rPr>
              <a:t>zz</a:t>
            </a:r>
            <a:r>
              <a:rPr lang="tr-TR" sz="3500" dirty="0" smtClean="0"/>
              <a:t>a</a:t>
            </a:r>
          </a:p>
          <a:p>
            <a:r>
              <a:rPr lang="tr-TR" sz="3500" dirty="0" err="1" smtClean="0"/>
              <a:t>Pi</a:t>
            </a:r>
            <a:r>
              <a:rPr lang="tr-TR" sz="3500" dirty="0" err="1" smtClean="0">
                <a:solidFill>
                  <a:srgbClr val="00B050"/>
                </a:solidFill>
              </a:rPr>
              <a:t>ts</a:t>
            </a:r>
            <a:r>
              <a:rPr lang="tr-TR" sz="3500" dirty="0" err="1" smtClean="0"/>
              <a:t>a</a:t>
            </a:r>
            <a:r>
              <a:rPr lang="tr-TR" sz="3500" dirty="0">
                <a:solidFill>
                  <a:srgbClr val="00B050"/>
                </a:solidFill>
              </a:rPr>
              <a:t> </a:t>
            </a: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10224422" y="2104030"/>
            <a:ext cx="0" cy="655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kdörtgen 20"/>
          <p:cNvSpPr/>
          <p:nvPr/>
        </p:nvSpPr>
        <p:spPr>
          <a:xfrm>
            <a:off x="7798411" y="901466"/>
            <a:ext cx="8002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</a:t>
            </a: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8188738" y="2019869"/>
            <a:ext cx="0" cy="655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kdörtgen 23"/>
          <p:cNvSpPr/>
          <p:nvPr/>
        </p:nvSpPr>
        <p:spPr>
          <a:xfrm>
            <a:off x="7566778" y="2870034"/>
            <a:ext cx="159825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500" dirty="0" err="1" smtClean="0">
                <a:solidFill>
                  <a:srgbClr val="00B050"/>
                </a:solidFill>
              </a:rPr>
              <a:t>W</a:t>
            </a:r>
            <a:r>
              <a:rPr lang="tr-TR" sz="3500" dirty="0" err="1" smtClean="0"/>
              <a:t>ürstel</a:t>
            </a:r>
            <a:endParaRPr lang="tr-TR" sz="3500" dirty="0" smtClean="0"/>
          </a:p>
          <a:p>
            <a:r>
              <a:rPr lang="tr-TR" sz="3500" dirty="0" err="1" smtClean="0">
                <a:solidFill>
                  <a:srgbClr val="00B050"/>
                </a:solidFill>
              </a:rPr>
              <a:t>V</a:t>
            </a:r>
            <a:r>
              <a:rPr lang="tr-TR" sz="3500" dirty="0" err="1" smtClean="0"/>
              <a:t>ürstel</a:t>
            </a:r>
            <a:endParaRPr lang="tr-TR" sz="3500" dirty="0"/>
          </a:p>
        </p:txBody>
      </p:sp>
    </p:spTree>
    <p:extLst>
      <p:ext uri="{BB962C8B-B14F-4D97-AF65-F5344CB8AC3E}">
        <p14:creationId xmlns:p14="http://schemas.microsoft.com/office/powerpoint/2010/main" val="49045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</TotalTime>
  <Words>189</Words>
  <Application>Microsoft Office PowerPoint</Application>
  <PresentationFormat>Geniş ekran</PresentationFormat>
  <Paragraphs>55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Roboto</vt:lpstr>
      <vt:lpstr>Geçmişe bakış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Support Lab</dc:creator>
  <cp:lastModifiedBy>Support Lab</cp:lastModifiedBy>
  <cp:revision>13</cp:revision>
  <dcterms:created xsi:type="dcterms:W3CDTF">2020-07-13T07:58:18Z</dcterms:created>
  <dcterms:modified xsi:type="dcterms:W3CDTF">2021-01-14T13:03:50Z</dcterms:modified>
</cp:coreProperties>
</file>